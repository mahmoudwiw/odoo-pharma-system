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Fit</c:v>
                </c:pt>
              </c:strCache>
            </c:strRef>
          </c:tx>
          <c:dPt>
            <c:idx val="0"/>
            <c:spPr>
              <a:solidFill>
                <a:srgbClr val="46D9B1"/>
              </a:solidFill>
            </c:spPr>
          </c:dPt>
          <c:dPt>
            <c:idx val="1"/>
            <c:spPr>
              <a:solidFill>
                <a:srgbClr val="38BDF8"/>
              </a:solidFill>
            </c:spPr>
          </c:dPt>
          <c:dPt>
            <c:idx val="2"/>
            <c:spPr>
              <a:solidFill>
                <a:srgbClr val="2E7BE0"/>
              </a:solidFill>
            </c:spPr>
          </c:dPt>
          <c:cat>
            <c:strRef>
              <c:f>Sheet1!$A$2:$A$4</c:f>
              <c:strCache>
                <c:ptCount val="3"/>
                <c:pt idx="0">
                  <c:v>Standard Odoo</c:v>
                </c:pt>
                <c:pt idx="1">
                  <c:v>Minor configuration</c:v>
                </c:pt>
                <c:pt idx="2">
                  <c:v>Edition dependent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dLbls>
          <c:txPr>
            <a:bodyPr/>
            <a:lstStyle/>
            <a:p>
              <a:pPr>
                <a:defRPr b="1" sz="1400">
                  <a:solidFill>
                    <a:srgbClr val="07163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1200">
              <a:solidFill>
                <a:srgbClr val="FFFFFF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5925312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Odoo 19 ERP for a Pharmaceutical Distributor  |  DEPI Graduation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272784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9FB3D1"/>
                </a:solidFill>
                <a:latin typeface="Arial"/>
              </a:rPr>
              <a:t>Mahmoud Abdelhamid Elmetwally   |   Ahmed Walid   |   Mazen Eldeeb   |   Abdelrahman Lotfy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519672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46D9B1"/>
                </a:solidFill>
                <a:latin typeface="Arial"/>
              </a:rPr>
              <a:t>Instructor: Ehab Mahmoud   |   Digital Egypt Pioneers Initiative (DEPI)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6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2011680"/>
            <a:ext cx="4572000" cy="4572000"/>
          </a:xfrm>
          <a:prstGeom prst="ellipse">
            <a:avLst/>
          </a:prstGeom>
          <a:solidFill>
            <a:srgbClr val="09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645920" y="5120640"/>
            <a:ext cx="3291840" cy="3291840"/>
          </a:xfrm>
          <a:prstGeom prst="ellipse">
            <a:avLst/>
          </a:prstGeom>
          <a:solidFill>
            <a:srgbClr val="0824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6D9B1"/>
                </a:solidFill>
                <a:latin typeface="Arial"/>
              </a:rPr>
              <a:t>OUR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The people behind Pharma Bridge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822960" cy="54864"/>
          </a:xfrm>
          <a:prstGeom prst="rect">
            <a:avLst/>
          </a:prstGeom>
          <a:solidFill>
            <a:srgbClr val="46D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FB3D1"/>
                </a:solidFill>
                <a:latin typeface="Arial"/>
              </a:rPr>
              <a:t>PHARMA BRIDGE  |  Odoo 19 ERP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FB3D1"/>
                </a:solidFill>
                <a:latin typeface="Arial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2606040" cy="3291840"/>
          </a:xfrm>
          <a:prstGeom prst="roundRect">
            <a:avLst>
              <a:gd name="adj" fmla="val 6000"/>
            </a:avLst>
          </a:prstGeom>
          <a:solidFill>
            <a:srgbClr val="0E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71600" y="2148840"/>
            <a:ext cx="960120" cy="960120"/>
          </a:xfrm>
          <a:prstGeom prst="ellipse">
            <a:avLst/>
          </a:prstGeom>
          <a:solidFill>
            <a:srgbClr val="46D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2148840"/>
            <a:ext cx="96012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071636"/>
                </a:solidFill>
                <a:latin typeface="Arial"/>
              </a:rPr>
              <a:t>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8328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Mahmoud Abdelhamid Elmetwally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43484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46D9B1"/>
                </a:solidFill>
                <a:latin typeface="Arial"/>
              </a:rPr>
              <a:t>Team Leader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64992" y="1828800"/>
            <a:ext cx="2606040" cy="3291840"/>
          </a:xfrm>
          <a:prstGeom prst="roundRect">
            <a:avLst>
              <a:gd name="adj" fmla="val 6000"/>
            </a:avLst>
          </a:prstGeom>
          <a:solidFill>
            <a:srgbClr val="0E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187952" y="2148840"/>
            <a:ext cx="960120" cy="96012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87952" y="2148840"/>
            <a:ext cx="96012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071636"/>
                </a:solidFill>
                <a:latin typeface="Arial"/>
              </a:rPr>
              <a:t>AW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7872" y="338328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Ahmed Walid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7872" y="443484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9FB3D1"/>
                </a:solidFill>
                <a:latin typeface="Arial"/>
              </a:rPr>
              <a:t>Team Member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1344" y="1828800"/>
            <a:ext cx="2606040" cy="3291840"/>
          </a:xfrm>
          <a:prstGeom prst="roundRect">
            <a:avLst>
              <a:gd name="adj" fmla="val 6000"/>
            </a:avLst>
          </a:prstGeom>
          <a:solidFill>
            <a:srgbClr val="0E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04304" y="2148840"/>
            <a:ext cx="960120" cy="960120"/>
          </a:xfrm>
          <a:prstGeom prst="ellipse">
            <a:avLst/>
          </a:prstGeom>
          <a:solidFill>
            <a:srgbClr val="2E7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04304" y="2148840"/>
            <a:ext cx="96012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4224" y="338328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Mazen Eldeeb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4224" y="443484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9FB3D1"/>
                </a:solidFill>
                <a:latin typeface="Arial"/>
              </a:rPr>
              <a:t>Team Member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97696" y="1828800"/>
            <a:ext cx="2606040" cy="3291840"/>
          </a:xfrm>
          <a:prstGeom prst="roundRect">
            <a:avLst>
              <a:gd name="adj" fmla="val 6000"/>
            </a:avLst>
          </a:prstGeom>
          <a:solidFill>
            <a:srgbClr val="0E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0656" y="2148840"/>
            <a:ext cx="960120" cy="960120"/>
          </a:xfrm>
          <a:prstGeom prst="ellipse">
            <a:avLst/>
          </a:prstGeom>
          <a:solidFill>
            <a:srgbClr val="46D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0656" y="2148840"/>
            <a:ext cx="96012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071636"/>
                </a:solidFill>
                <a:latin typeface="Arial"/>
              </a:rPr>
              <a:t>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0576" y="338328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Abdelrahman Lotfy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0576" y="443484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9FB3D1"/>
                </a:solidFill>
                <a:latin typeface="Arial"/>
              </a:rPr>
              <a:t>Team Member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440680"/>
            <a:ext cx="11091672" cy="731520"/>
          </a:xfrm>
          <a:prstGeom prst="roundRect">
            <a:avLst>
              <a:gd name="adj" fmla="val 6000"/>
            </a:avLst>
          </a:prstGeom>
          <a:solidFill>
            <a:srgbClr val="0E2550"/>
          </a:solidFill>
          <a:ln w="15875">
            <a:solidFill>
              <a:srgbClr val="46D9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440680"/>
            <a:ext cx="11091672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46D9B1"/>
                </a:solidFill>
                <a:latin typeface="Arial"/>
              </a:rPr>
              <a:t>Instructor: Ehab Mahmoud   |   Digital Egypt Pioneers Initiative (DEPI)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232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6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232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9" grpId="0" animBg="1"/>
      <p:bldP spid="10" grpId="0" animBg="1"/>
      <p:bldP spid="11" grpId="0"/>
      <p:bldP spid="12" grpId="0"/>
      <p:bldP spid="13" grpId="0"/>
      <p:bldP spid="14" grpId="0" animBg="1"/>
      <p:bldP spid="15" grpId="0" animBg="1"/>
      <p:bldP spid="16" grpId="0"/>
      <p:bldP spid="17" grpId="0"/>
      <p:bldP spid="18" grpId="0"/>
      <p:bldP spid="19" grpId="0" animBg="1"/>
      <p:bldP spid="20" grpId="0" animBg="1"/>
      <p:bldP spid="21" grpId="0"/>
      <p:bldP spid="22" grpId="0"/>
      <p:bldP spid="23" grpId="0"/>
      <p:bldP spid="24" grpId="0" animBg="1"/>
      <p:bldP spid="25" grpId="0" animBg="1"/>
      <p:bldP spid="26" grpId="0"/>
      <p:bldP spid="27" grpId="0"/>
      <p:bldP spid="28" grpId="0"/>
      <p:bldP spid="29" grpId="0" animBg="1"/>
      <p:bldP spid="30" grpId="0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6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2011680"/>
            <a:ext cx="4572000" cy="4572000"/>
          </a:xfrm>
          <a:prstGeom prst="ellipse">
            <a:avLst/>
          </a:prstGeom>
          <a:solidFill>
            <a:srgbClr val="09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645920" y="5120640"/>
            <a:ext cx="3291840" cy="3291840"/>
          </a:xfrm>
          <a:prstGeom prst="ellipse">
            <a:avLst/>
          </a:prstGeom>
          <a:solidFill>
            <a:srgbClr val="0824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6D9B1"/>
                </a:solidFill>
                <a:latin typeface="Arial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Medicines cannot afford guesswork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822960" cy="54864"/>
          </a:xfrm>
          <a:prstGeom prst="rect">
            <a:avLst/>
          </a:prstGeom>
          <a:solidFill>
            <a:srgbClr val="46D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FB3D1"/>
                </a:solidFill>
                <a:latin typeface="Arial"/>
              </a:rPr>
              <a:t>PHARMA BRIDGE  |  Odoo 19 ERP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FB3D1"/>
                </a:solidFill>
                <a:latin typeface="Arial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2560320" cy="2468880"/>
          </a:xfrm>
          <a:prstGeom prst="roundRect">
            <a:avLst>
              <a:gd name="adj" fmla="val 6000"/>
            </a:avLst>
          </a:prstGeom>
          <a:solidFill>
            <a:srgbClr val="0E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993392"/>
            <a:ext cx="64008" cy="2139696"/>
          </a:xfrm>
          <a:prstGeom prst="rect">
            <a:avLst/>
          </a:prstGeom>
          <a:solidFill>
            <a:srgbClr val="46D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029968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Expired stock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542032"/>
            <a:ext cx="2011679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9FB3D1"/>
                </a:solidFill>
                <a:latin typeface="Arial"/>
              </a:rPr>
              <a:t>Short-dated medicines sit unnoticed in the warehouse and end up written off.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828800"/>
            <a:ext cx="2560320" cy="2468880"/>
          </a:xfrm>
          <a:prstGeom prst="roundRect">
            <a:avLst>
              <a:gd name="adj" fmla="val 6000"/>
            </a:avLst>
          </a:prstGeom>
          <a:solidFill>
            <a:srgbClr val="0E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993392"/>
            <a:ext cx="64008" cy="213969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30168" y="2029968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Slow recalls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0168" y="2542032"/>
            <a:ext cx="2011679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9FB3D1"/>
                </a:solidFill>
                <a:latin typeface="Arial"/>
              </a:rPr>
              <a:t>Tracing one batch across suppliers and customers takes days on paper.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9" y="1828800"/>
            <a:ext cx="2560320" cy="2468880"/>
          </a:xfrm>
          <a:prstGeom prst="roundRect">
            <a:avLst>
              <a:gd name="adj" fmla="val 6000"/>
            </a:avLst>
          </a:prstGeom>
          <a:solidFill>
            <a:srgbClr val="0E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79" y="1993392"/>
            <a:ext cx="64008" cy="2139696"/>
          </a:xfrm>
          <a:prstGeom prst="rect">
            <a:avLst/>
          </a:prstGeom>
          <a:solidFill>
            <a:srgbClr val="2E7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2029968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Late collections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2542032"/>
            <a:ext cx="2011679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9FB3D1"/>
                </a:solidFill>
                <a:latin typeface="Arial"/>
              </a:rPr>
              <a:t>No credit control, so receivables grow beyond what the business can carry.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15399" y="1828800"/>
            <a:ext cx="2560320" cy="2468880"/>
          </a:xfrm>
          <a:prstGeom prst="roundRect">
            <a:avLst>
              <a:gd name="adj" fmla="val 6000"/>
            </a:avLst>
          </a:prstGeom>
          <a:solidFill>
            <a:srgbClr val="0E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15399" y="1993392"/>
            <a:ext cx="64008" cy="2139696"/>
          </a:xfrm>
          <a:prstGeom prst="rect">
            <a:avLst/>
          </a:prstGeom>
          <a:solidFill>
            <a:srgbClr val="46D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08007" y="2029968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Cold-chain risk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08007" y="2542032"/>
            <a:ext cx="2011679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9FB3D1"/>
                </a:solidFill>
                <a:latin typeface="Arial"/>
              </a:rPr>
              <a:t>Insulin and vaccines stored with normal stock lose potency and safety.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846320"/>
            <a:ext cx="11091672" cy="1188720"/>
          </a:xfrm>
          <a:prstGeom prst="roundRect">
            <a:avLst>
              <a:gd name="adj" fmla="val 6000"/>
            </a:avLst>
          </a:prstGeom>
          <a:solidFill>
            <a:srgbClr val="0E2550"/>
          </a:solidFill>
          <a:ln w="15875">
            <a:solidFill>
              <a:srgbClr val="46D9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02920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Spreadsheets and paper = no single source of truth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57784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9FB3D1"/>
                </a:solidFill>
                <a:latin typeface="Arial"/>
              </a:rPr>
              <a:t>Pharma Bridge needs one system where every box, batch and payment is tracked from vendor to pharmacy.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6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9" grpId="0" animBg="1"/>
      <p:bldP spid="10" grpId="0" animBg="1"/>
      <p:bldP spid="11" grpId="0"/>
      <p:bldP spid="12" grpId="0"/>
      <p:bldP spid="13" grpId="0" animBg="1"/>
      <p:bldP spid="14" grpId="0" animBg="1"/>
      <p:bldP spid="15" grpId="0"/>
      <p:bldP spid="16" grpId="0"/>
      <p:bldP spid="17" grpId="0" animBg="1"/>
      <p:bldP spid="18" grpId="0" animBg="1"/>
      <p:bldP spid="19" grpId="0"/>
      <p:bldP spid="20" grpId="0"/>
      <p:bldP spid="21" grpId="0" animBg="1"/>
      <p:bldP spid="22" grpId="0" animBg="1"/>
      <p:bldP spid="23" grpId="0"/>
      <p:bldP spid="24" grpId="0"/>
      <p:bldP spid="25" grpId="0" animBg="1"/>
      <p:bldP spid="26" grpId="0"/>
      <p:bldP spid="27" grpId="0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6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2011680"/>
            <a:ext cx="4572000" cy="4572000"/>
          </a:xfrm>
          <a:prstGeom prst="ellipse">
            <a:avLst/>
          </a:prstGeom>
          <a:solidFill>
            <a:srgbClr val="09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645920" y="5120640"/>
            <a:ext cx="3291840" cy="3291840"/>
          </a:xfrm>
          <a:prstGeom prst="ellipse">
            <a:avLst/>
          </a:prstGeom>
          <a:solidFill>
            <a:srgbClr val="0824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6D9B1"/>
                </a:solidFill>
                <a:latin typeface="Arial"/>
              </a:rPr>
              <a:t>THE COMPANY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Pharma Bridge at a glance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822960" cy="54864"/>
          </a:xfrm>
          <a:prstGeom prst="rect">
            <a:avLst/>
          </a:prstGeom>
          <a:solidFill>
            <a:srgbClr val="46D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FB3D1"/>
                </a:solidFill>
                <a:latin typeface="Arial"/>
              </a:rPr>
              <a:t>PHARMA BRIDGE  |  Odoo 19 ERP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FB3D1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0">
                <a:solidFill>
                  <a:srgbClr val="9FB3D1"/>
                </a:solidFill>
                <a:latin typeface="Arial"/>
              </a:rPr>
              <a:t>Pharma Bridge is an Egyptian pharmaceutical distributor. It buys medicines from manufacturers and supplies pharmacies, hospitals and sub-distributors across Egypt.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9FB3D1"/>
                </a:solidFill>
                <a:latin typeface="Arial"/>
              </a:rPr>
              <a:t/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9FB3D1"/>
                </a:solidFill>
                <a:latin typeface="Arial"/>
              </a:rPr>
              <a:t>Customers: pharmacy chains, hospitals, regional sub-distributors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9FB3D1"/>
                </a:solidFill>
                <a:latin typeface="Arial"/>
              </a:rPr>
              <a:t>Vendors: Sanofi, GSK, Novartis, EVA Pharma, Hikma and more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9FB3D1"/>
                </a:solidFill>
                <a:latin typeface="Arial"/>
              </a:rPr>
              <a:t>Products: antibiotics, cardio, diabetes, GI, respiratory, vitamins and cold-chain insulin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737360"/>
            <a:ext cx="2651760" cy="1965960"/>
          </a:xfrm>
          <a:prstGeom prst="roundRect">
            <a:avLst>
              <a:gd name="adj" fmla="val 6000"/>
            </a:avLst>
          </a:prstGeom>
          <a:solidFill>
            <a:srgbClr val="0E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965960"/>
            <a:ext cx="2194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46D9B1"/>
                </a:solidFill>
                <a:latin typeface="Arial"/>
              </a:rPr>
              <a:t>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880360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9FB3D1"/>
                </a:solidFill>
                <a:latin typeface="Arial"/>
              </a:rPr>
              <a:t>Medicines tracked by lot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737360"/>
            <a:ext cx="2651760" cy="1965960"/>
          </a:xfrm>
          <a:prstGeom prst="roundRect">
            <a:avLst>
              <a:gd name="adj" fmla="val 6000"/>
            </a:avLst>
          </a:prstGeom>
          <a:solidFill>
            <a:srgbClr val="0E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1965960"/>
            <a:ext cx="2194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38BDF8"/>
                </a:solidFill>
                <a:latin typeface="Arial"/>
              </a:rPr>
              <a:t>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2880360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9FB3D1"/>
                </a:solidFill>
                <a:latin typeface="Arial"/>
              </a:rPr>
              <a:t>Customers with credit limits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3931920"/>
            <a:ext cx="2651760" cy="1965960"/>
          </a:xfrm>
          <a:prstGeom prst="roundRect">
            <a:avLst>
              <a:gd name="adj" fmla="val 6000"/>
            </a:avLst>
          </a:prstGeom>
          <a:solidFill>
            <a:srgbClr val="0E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160520"/>
            <a:ext cx="2194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2E7BE0"/>
                </a:solidFill>
                <a:latin typeface="Arial"/>
              </a:rP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74920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9FB3D1"/>
                </a:solidFill>
                <a:latin typeface="Arial"/>
              </a:rPr>
              <a:t>Vendors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20" y="3931920"/>
            <a:ext cx="2651760" cy="1965960"/>
          </a:xfrm>
          <a:prstGeom prst="roundRect">
            <a:avLst>
              <a:gd name="adj" fmla="val 6000"/>
            </a:avLst>
          </a:prstGeom>
          <a:solidFill>
            <a:srgbClr val="0E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4160520"/>
            <a:ext cx="2194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46D9B1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5074920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9FB3D1"/>
                </a:solidFill>
                <a:latin typeface="Arial"/>
              </a:rPr>
              <a:t>Storage zones: Main, Cold, Quarantine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9" grpId="0"/>
      <p:bldP spid="10" grpId="0" animBg="1"/>
      <p:bldP spid="11" grpId="0"/>
      <p:bldP spid="12" grpId="0"/>
      <p:bldP spid="13" grpId="0" animBg="1"/>
      <p:bldP spid="14" grpId="0"/>
      <p:bldP spid="15" grpId="0"/>
      <p:bldP spid="16" grpId="0" animBg="1"/>
      <p:bldP spid="17" grpId="0"/>
      <p:bldP spid="18" grpId="0"/>
      <p:bldP spid="19" grpId="0" animBg="1"/>
      <p:bldP spid="20" grpId="0"/>
      <p:bldP spid="21" grpId="0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6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2011680"/>
            <a:ext cx="4572000" cy="4572000"/>
          </a:xfrm>
          <a:prstGeom prst="ellipse">
            <a:avLst/>
          </a:prstGeom>
          <a:solidFill>
            <a:srgbClr val="09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645920" y="5120640"/>
            <a:ext cx="3291840" cy="3291840"/>
          </a:xfrm>
          <a:prstGeom prst="ellipse">
            <a:avLst/>
          </a:prstGeom>
          <a:solidFill>
            <a:srgbClr val="0824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6D9B1"/>
                </a:solidFill>
                <a:latin typeface="Arial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One connected system, vendor to pharmacy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822960" cy="54864"/>
          </a:xfrm>
          <a:prstGeom prst="rect">
            <a:avLst/>
          </a:prstGeom>
          <a:solidFill>
            <a:srgbClr val="46D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FB3D1"/>
                </a:solidFill>
                <a:latin typeface="Arial"/>
              </a:rPr>
              <a:t>PHARMA BRIDGE  |  Odoo 19 ERP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FB3D1"/>
                </a:solidFill>
                <a:latin typeface="Arial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1554480" cy="1234440"/>
          </a:xfrm>
          <a:prstGeom prst="roundRect">
            <a:avLst>
              <a:gd name="adj" fmla="val 6000"/>
            </a:avLst>
          </a:prstGeom>
          <a:solidFill>
            <a:srgbClr val="46D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155448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071636"/>
                </a:solidFill>
                <a:latin typeface="Arial"/>
              </a:rPr>
              <a:t>Purchase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1828800"/>
            <a:ext cx="347472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9FB3D1"/>
                </a:solidFill>
                <a:latin typeface="Arial"/>
              </a:rPr>
              <a:t>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50592" y="1828800"/>
            <a:ext cx="1554480" cy="1234440"/>
          </a:xfrm>
          <a:prstGeom prst="roundRect">
            <a:avLst>
              <a:gd name="adj" fmla="val 6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50592" y="1828800"/>
            <a:ext cx="155448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071636"/>
                </a:solidFill>
                <a:latin typeface="Arial"/>
              </a:rPr>
              <a:t>Receiving</a:t>
            </a:r>
          </a:p>
          <a:p>
            <a:pPr algn="ctr">
              <a:spcAft>
                <a:spcPts val="0"/>
              </a:spcAft>
            </a:pPr>
            <a:r>
              <a:rPr sz="1500" b="1">
                <a:solidFill>
                  <a:srgbClr val="071636"/>
                </a:solidFill>
                <a:latin typeface="Arial"/>
              </a:rPr>
              <a:t>QC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05072" y="1828800"/>
            <a:ext cx="347472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9FB3D1"/>
                </a:solidFill>
                <a:latin typeface="Arial"/>
              </a:rPr>
              <a:t>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52544" y="1828800"/>
            <a:ext cx="1554480" cy="1234440"/>
          </a:xfrm>
          <a:prstGeom prst="roundRect">
            <a:avLst>
              <a:gd name="adj" fmla="val 6000"/>
            </a:avLst>
          </a:prstGeom>
          <a:solidFill>
            <a:srgbClr val="2E7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52544" y="1828800"/>
            <a:ext cx="155448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Inventory</a:t>
            </a:r>
          </a:p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Lots + FEFO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07024" y="1828800"/>
            <a:ext cx="347472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9FB3D1"/>
                </a:solidFill>
                <a:latin typeface="Arial"/>
              </a:rPr>
              <a:t>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54496" y="1828800"/>
            <a:ext cx="1554480" cy="1234440"/>
          </a:xfrm>
          <a:prstGeom prst="roundRect">
            <a:avLst>
              <a:gd name="adj" fmla="val 6000"/>
            </a:avLst>
          </a:prstGeom>
          <a:solidFill>
            <a:srgbClr val="46D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54496" y="1828800"/>
            <a:ext cx="155448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071636"/>
                </a:solidFill>
                <a:latin typeface="Arial"/>
              </a:rPr>
              <a:t>Sales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08975" y="1828800"/>
            <a:ext cx="347472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9FB3D1"/>
                </a:solidFill>
                <a:latin typeface="Arial"/>
              </a:rP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56448" y="1828800"/>
            <a:ext cx="1554480" cy="1234440"/>
          </a:xfrm>
          <a:prstGeom prst="roundRect">
            <a:avLst>
              <a:gd name="adj" fmla="val 6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56448" y="1828800"/>
            <a:ext cx="155448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071636"/>
                </a:solidFill>
                <a:latin typeface="Arial"/>
              </a:rPr>
              <a:t>Delivery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10928" y="1828800"/>
            <a:ext cx="347472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9FB3D1"/>
                </a:solidFill>
                <a:latin typeface="Arial"/>
              </a:rPr>
              <a:t>&gt;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58400" y="1828800"/>
            <a:ext cx="1554480" cy="1234440"/>
          </a:xfrm>
          <a:prstGeom prst="roundRect">
            <a:avLst>
              <a:gd name="adj" fmla="val 6000"/>
            </a:avLst>
          </a:prstGeom>
          <a:solidFill>
            <a:srgbClr val="2E7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0" y="1828800"/>
            <a:ext cx="155448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Invoice +</a:t>
            </a:r>
          </a:p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Payment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520440"/>
            <a:ext cx="2560320" cy="1965960"/>
          </a:xfrm>
          <a:prstGeom prst="roundRect">
            <a:avLst>
              <a:gd name="adj" fmla="val 6000"/>
            </a:avLst>
          </a:prstGeom>
          <a:solidFill>
            <a:srgbClr val="0E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685032"/>
            <a:ext cx="64008" cy="1636776"/>
          </a:xfrm>
          <a:prstGeom prst="rect">
            <a:avLst/>
          </a:prstGeom>
          <a:solidFill>
            <a:srgbClr val="46D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7" y="3721608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CRM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7" y="4233672"/>
            <a:ext cx="2011679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9FB3D1"/>
                </a:solidFill>
                <a:latin typeface="Arial"/>
              </a:rPr>
              <a:t>Pipeline and visits for medical sales reps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37560" y="3520440"/>
            <a:ext cx="2560320" cy="1965960"/>
          </a:xfrm>
          <a:prstGeom prst="roundRect">
            <a:avLst>
              <a:gd name="adj" fmla="val 6000"/>
            </a:avLst>
          </a:prstGeom>
          <a:solidFill>
            <a:srgbClr val="0E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337560" y="3685032"/>
            <a:ext cx="64008" cy="163677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30168" y="3721608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Accounting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30168" y="4233672"/>
            <a:ext cx="2011679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9FB3D1"/>
                </a:solidFill>
                <a:latin typeface="Arial"/>
              </a:rPr>
              <a:t>Average cost, perpetual valuation, receivable aging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26479" y="3520440"/>
            <a:ext cx="2560320" cy="1965960"/>
          </a:xfrm>
          <a:prstGeom prst="roundRect">
            <a:avLst>
              <a:gd name="adj" fmla="val 6000"/>
            </a:avLst>
          </a:prstGeom>
          <a:solidFill>
            <a:srgbClr val="0E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26479" y="3685032"/>
            <a:ext cx="64008" cy="1636776"/>
          </a:xfrm>
          <a:prstGeom prst="rect">
            <a:avLst/>
          </a:prstGeom>
          <a:solidFill>
            <a:srgbClr val="2E7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19088" y="3721608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Quality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9088" y="4233672"/>
            <a:ext cx="2011679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9FB3D1"/>
                </a:solidFill>
                <a:latin typeface="Arial"/>
              </a:rPr>
              <a:t>Pass / Fail inspection on every receipt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15399" y="3520440"/>
            <a:ext cx="2560320" cy="1965960"/>
          </a:xfrm>
          <a:prstGeom prst="roundRect">
            <a:avLst>
              <a:gd name="adj" fmla="val 6000"/>
            </a:avLst>
          </a:prstGeom>
          <a:solidFill>
            <a:srgbClr val="0E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915399" y="3685032"/>
            <a:ext cx="64008" cy="1636776"/>
          </a:xfrm>
          <a:prstGeom prst="rect">
            <a:avLst/>
          </a:prstGeom>
          <a:solidFill>
            <a:srgbClr val="46D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08007" y="3721608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Reporting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08007" y="4233672"/>
            <a:ext cx="2011679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9FB3D1"/>
                </a:solidFill>
                <a:latin typeface="Arial"/>
              </a:rPr>
              <a:t>Dashboards for sales, stock, expiry and collections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80644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46D9B1"/>
                </a:solidFill>
                <a:latin typeface="Arial"/>
              </a:rPr>
              <a:t>Standard Odoo 19 configuration only. No custom code.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flip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6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6" dur="6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232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232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232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232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25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2" dur="6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grpId="0" nodeType="withEffect">
                                  <p:stCondLst>
                                    <p:cond delay="255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7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255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255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6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255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9" grpId="0" animBg="1"/>
      <p:bldP spid="10" grpId="0"/>
      <p:bldP spid="11" grpId="0"/>
      <p:bldP spid="12" grpId="0" animBg="1"/>
      <p:bldP spid="13" grpId="0"/>
      <p:bldP spid="14" grpId="0"/>
      <p:bldP spid="15" grpId="0" animBg="1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  <p:bldP spid="26" grpId="0" animBg="1"/>
      <p:bldP spid="27" grpId="0" animBg="1"/>
      <p:bldP spid="28" grpId="0"/>
      <p:bldP spid="29" grpId="0"/>
      <p:bldP spid="30" grpId="0" animBg="1"/>
      <p:bldP spid="31" grpId="0" animBg="1"/>
      <p:bldP spid="32" grpId="0"/>
      <p:bldP spid="33" grpId="0"/>
      <p:bldP spid="34" grpId="0" animBg="1"/>
      <p:bldP spid="35" grpId="0" animBg="1"/>
      <p:bldP spid="36" grpId="0"/>
      <p:bldP spid="37" grpId="0"/>
      <p:bldP spid="38" grpId="0" animBg="1"/>
      <p:bldP spid="39" grpId="0" animBg="1"/>
      <p:bldP spid="40" grpId="0"/>
      <p:bldP spid="41" grpId="0"/>
      <p:bldP spid="42" grpId="0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6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2011680"/>
            <a:ext cx="4572000" cy="4572000"/>
          </a:xfrm>
          <a:prstGeom prst="ellipse">
            <a:avLst/>
          </a:prstGeom>
          <a:solidFill>
            <a:srgbClr val="09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645920" y="5120640"/>
            <a:ext cx="3291840" cy="3291840"/>
          </a:xfrm>
          <a:prstGeom prst="ellipse">
            <a:avLst/>
          </a:prstGeom>
          <a:solidFill>
            <a:srgbClr val="0824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6D9B1"/>
                </a:solidFill>
                <a:latin typeface="Arial"/>
              </a:rPr>
              <a:t>STAKEHOLDERS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Who the system serves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822960" cy="54864"/>
          </a:xfrm>
          <a:prstGeom prst="rect">
            <a:avLst/>
          </a:prstGeom>
          <a:solidFill>
            <a:srgbClr val="46D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FB3D1"/>
                </a:solidFill>
                <a:latin typeface="Arial"/>
              </a:rPr>
              <a:t>PHARMA BRIDGE  |  Odoo 19 ERP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FB3D1"/>
                </a:solidFill>
                <a:latin typeface="Arial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783080"/>
            <a:ext cx="5468112" cy="1783080"/>
          </a:xfrm>
          <a:prstGeom prst="roundRect">
            <a:avLst>
              <a:gd name="adj" fmla="val 6000"/>
            </a:avLst>
          </a:prstGeom>
          <a:solidFill>
            <a:srgbClr val="0E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947672"/>
            <a:ext cx="64008" cy="1453895"/>
          </a:xfrm>
          <a:prstGeom prst="rect">
            <a:avLst/>
          </a:prstGeom>
          <a:solidFill>
            <a:srgbClr val="46D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984248"/>
            <a:ext cx="49651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Manage closely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496312"/>
            <a:ext cx="4919472" cy="960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9FB3D1"/>
                </a:solidFill>
                <a:latin typeface="Arial"/>
              </a:rPr>
              <a:t>General Manager, Warehouse Manager, Quality Officer, Sales Manager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783080"/>
            <a:ext cx="5468112" cy="1783080"/>
          </a:xfrm>
          <a:prstGeom prst="roundRect">
            <a:avLst>
              <a:gd name="adj" fmla="val 6000"/>
            </a:avLst>
          </a:prstGeom>
          <a:solidFill>
            <a:srgbClr val="0E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47672"/>
            <a:ext cx="64008" cy="145389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1984248"/>
            <a:ext cx="49651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Keep satisfied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8" y="2496312"/>
            <a:ext cx="4919472" cy="960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9FB3D1"/>
                </a:solidFill>
                <a:latin typeface="Arial"/>
              </a:rPr>
              <a:t>Health authorities, Purchasing Manager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794760"/>
            <a:ext cx="5468112" cy="1783080"/>
          </a:xfrm>
          <a:prstGeom prst="roundRect">
            <a:avLst>
              <a:gd name="adj" fmla="val 6000"/>
            </a:avLst>
          </a:prstGeom>
          <a:solidFill>
            <a:srgbClr val="0E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959352"/>
            <a:ext cx="64008" cy="1453895"/>
          </a:xfrm>
          <a:prstGeom prst="rect">
            <a:avLst/>
          </a:prstGeom>
          <a:solidFill>
            <a:srgbClr val="2E7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3995928"/>
            <a:ext cx="49651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Keep informed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507992"/>
            <a:ext cx="4919472" cy="960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9FB3D1"/>
                </a:solidFill>
                <a:latin typeface="Arial"/>
              </a:rPr>
              <a:t>Medical reps, Accountant, Customers, Suppliers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794760"/>
            <a:ext cx="5468112" cy="1783080"/>
          </a:xfrm>
          <a:prstGeom prst="roundRect">
            <a:avLst>
              <a:gd name="adj" fmla="val 6000"/>
            </a:avLst>
          </a:prstGeom>
          <a:solidFill>
            <a:srgbClr val="0E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3959352"/>
            <a:ext cx="64008" cy="1453895"/>
          </a:xfrm>
          <a:prstGeom prst="rect">
            <a:avLst/>
          </a:prstGeom>
          <a:solidFill>
            <a:srgbClr val="9FB3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4808" y="3995928"/>
            <a:ext cx="49651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Monitor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4808" y="4507992"/>
            <a:ext cx="4919472" cy="960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9FB3D1"/>
                </a:solidFill>
                <a:latin typeface="Arial"/>
              </a:rPr>
              <a:t>IT administrator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8978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FB3D1"/>
                </a:solidFill>
                <a:latin typeface="Arial"/>
              </a:rPr>
              <a:t>High power / high interest sits top-left; each group gets its own training and communication plan.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honeycomb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9" grpId="0" animBg="1"/>
      <p:bldP spid="10" grpId="0" animBg="1"/>
      <p:bldP spid="11" grpId="0"/>
      <p:bldP spid="12" grpId="0"/>
      <p:bldP spid="13" grpId="0" animBg="1"/>
      <p:bldP spid="14" grpId="0" animBg="1"/>
      <p:bldP spid="15" grpId="0"/>
      <p:bldP spid="16" grpId="0"/>
      <p:bldP spid="17" grpId="0" animBg="1"/>
      <p:bldP spid="18" grpId="0" animBg="1"/>
      <p:bldP spid="19" grpId="0"/>
      <p:bldP spid="20" grpId="0"/>
      <p:bldP spid="21" grpId="0" animBg="1"/>
      <p:bldP spid="22" grpId="0" animBg="1"/>
      <p:bldP spid="23" grpId="0"/>
      <p:bldP spid="24" grpId="0"/>
      <p:bldP spid="25" grpId="0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6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2011680"/>
            <a:ext cx="4572000" cy="4572000"/>
          </a:xfrm>
          <a:prstGeom prst="ellipse">
            <a:avLst/>
          </a:prstGeom>
          <a:solidFill>
            <a:srgbClr val="09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645920" y="5120640"/>
            <a:ext cx="3291840" cy="3291840"/>
          </a:xfrm>
          <a:prstGeom prst="ellipse">
            <a:avLst/>
          </a:prstGeom>
          <a:solidFill>
            <a:srgbClr val="0824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6D9B1"/>
                </a:solidFill>
                <a:latin typeface="Arial"/>
              </a:rPr>
              <a:t>KEY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Built for how medicines are really handled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822960" cy="54864"/>
          </a:xfrm>
          <a:prstGeom prst="rect">
            <a:avLst/>
          </a:prstGeom>
          <a:solidFill>
            <a:srgbClr val="46D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FB3D1"/>
                </a:solidFill>
                <a:latin typeface="Arial"/>
              </a:rPr>
              <a:t>PHARMA BRIDGE  |  Odoo 19 ERP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FB3D1"/>
                </a:solidFill>
                <a:latin typeface="Arial"/>
              </a:rP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783080"/>
            <a:ext cx="3511296" cy="2011680"/>
          </a:xfrm>
          <a:prstGeom prst="roundRect">
            <a:avLst>
              <a:gd name="adj" fmla="val 6000"/>
            </a:avLst>
          </a:prstGeom>
          <a:solidFill>
            <a:srgbClr val="0E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947672"/>
            <a:ext cx="64008" cy="1682496"/>
          </a:xfrm>
          <a:prstGeom prst="rect">
            <a:avLst/>
          </a:prstGeom>
          <a:solidFill>
            <a:srgbClr val="46D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984248"/>
            <a:ext cx="30083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FEFO picking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496312"/>
            <a:ext cx="296265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9FB3D1"/>
                </a:solidFill>
                <a:latin typeface="Arial"/>
              </a:rPr>
              <a:t>First-expiry-first-out reserves the nearest-expiry lot automatically on every delivery.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1783080"/>
            <a:ext cx="3511296" cy="2011680"/>
          </a:xfrm>
          <a:prstGeom prst="roundRect">
            <a:avLst>
              <a:gd name="adj" fmla="val 6000"/>
            </a:avLst>
          </a:prstGeom>
          <a:solidFill>
            <a:srgbClr val="0E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5968" y="1947672"/>
            <a:ext cx="64008" cy="168249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08576" y="1984248"/>
            <a:ext cx="30083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Lots and expiry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6" y="2496312"/>
            <a:ext cx="296265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9FB3D1"/>
                </a:solidFill>
                <a:latin typeface="Arial"/>
              </a:rPr>
              <a:t>Every medicine tracked by lot with expiry, best-before, removal and 90-day alert dates.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83296" y="1783080"/>
            <a:ext cx="3511296" cy="2011680"/>
          </a:xfrm>
          <a:prstGeom prst="roundRect">
            <a:avLst>
              <a:gd name="adj" fmla="val 6000"/>
            </a:avLst>
          </a:prstGeom>
          <a:solidFill>
            <a:srgbClr val="0E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83296" y="1947672"/>
            <a:ext cx="64008" cy="1682496"/>
          </a:xfrm>
          <a:prstGeom prst="rect">
            <a:avLst/>
          </a:prstGeom>
          <a:solidFill>
            <a:srgbClr val="2E7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5904" y="1984248"/>
            <a:ext cx="30083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Cold chain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4" y="2496312"/>
            <a:ext cx="296265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9FB3D1"/>
                </a:solidFill>
                <a:latin typeface="Arial"/>
              </a:rPr>
              <a:t>Dedicated Cold Storage (2-8 C) with putaway rules that route insulin there on receipt.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050792"/>
            <a:ext cx="3511296" cy="2011680"/>
          </a:xfrm>
          <a:prstGeom prst="roundRect">
            <a:avLst>
              <a:gd name="adj" fmla="val 6000"/>
            </a:avLst>
          </a:prstGeom>
          <a:solidFill>
            <a:srgbClr val="0E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215384"/>
            <a:ext cx="64008" cy="1682496"/>
          </a:xfrm>
          <a:prstGeom prst="rect">
            <a:avLst/>
          </a:prstGeom>
          <a:solidFill>
            <a:srgbClr val="46D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7" y="4251960"/>
            <a:ext cx="30083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Quality gate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" y="4764024"/>
            <a:ext cx="296265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9FB3D1"/>
                </a:solidFill>
                <a:latin typeface="Arial"/>
              </a:rPr>
              <a:t>Receiving inspection with Pass / Fail; failed batches go to Quarantine.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15968" y="4050792"/>
            <a:ext cx="3511296" cy="2011680"/>
          </a:xfrm>
          <a:prstGeom prst="roundRect">
            <a:avLst>
              <a:gd name="adj" fmla="val 6000"/>
            </a:avLst>
          </a:prstGeom>
          <a:solidFill>
            <a:srgbClr val="0E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15968" y="4215384"/>
            <a:ext cx="64008" cy="168249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08576" y="4251960"/>
            <a:ext cx="30083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Credit control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08576" y="4764024"/>
            <a:ext cx="296265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9FB3D1"/>
                </a:solidFill>
                <a:latin typeface="Arial"/>
              </a:rPr>
              <a:t>Per-customer limits from 7,000 to 100,000 EGP, default 20,000, with order blocking.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83296" y="4050792"/>
            <a:ext cx="3511296" cy="2011680"/>
          </a:xfrm>
          <a:prstGeom prst="roundRect">
            <a:avLst>
              <a:gd name="adj" fmla="val 6000"/>
            </a:avLst>
          </a:prstGeom>
          <a:solidFill>
            <a:srgbClr val="0E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83296" y="4215384"/>
            <a:ext cx="64008" cy="1682496"/>
          </a:xfrm>
          <a:prstGeom prst="rect">
            <a:avLst/>
          </a:prstGeom>
          <a:solidFill>
            <a:srgbClr val="2E7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75904" y="4251960"/>
            <a:ext cx="30083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Smart pricing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75904" y="4764024"/>
            <a:ext cx="296265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9FB3D1"/>
                </a:solidFill>
                <a:latin typeface="Arial"/>
              </a:rPr>
              <a:t>Hospital and distributor pricelist: 10% from 50 units, 15% from 200 units.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window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6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6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9" grpId="0" animBg="1"/>
      <p:bldP spid="10" grpId="0" animBg="1"/>
      <p:bldP spid="11" grpId="0"/>
      <p:bldP spid="12" grpId="0"/>
      <p:bldP spid="13" grpId="0" animBg="1"/>
      <p:bldP spid="14" grpId="0" animBg="1"/>
      <p:bldP spid="15" grpId="0"/>
      <p:bldP spid="16" grpId="0"/>
      <p:bldP spid="17" grpId="0" animBg="1"/>
      <p:bldP spid="18" grpId="0" animBg="1"/>
      <p:bldP spid="19" grpId="0"/>
      <p:bldP spid="20" grpId="0"/>
      <p:bldP spid="21" grpId="0" animBg="1"/>
      <p:bldP spid="22" grpId="0" animBg="1"/>
      <p:bldP spid="23" grpId="0"/>
      <p:bldP spid="24" grpId="0"/>
      <p:bldP spid="25" grpId="0" animBg="1"/>
      <p:bldP spid="26" grpId="0" animBg="1"/>
      <p:bldP spid="27" grpId="0"/>
      <p:bldP spid="28" grpId="0"/>
      <p:bldP spid="29" grpId="0" animBg="1"/>
      <p:bldP spid="30" grpId="0" animBg="1"/>
      <p:bldP spid="31" grpId="0"/>
      <p:bldP spid="32" grpId="0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6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2011680"/>
            <a:ext cx="4572000" cy="4572000"/>
          </a:xfrm>
          <a:prstGeom prst="ellipse">
            <a:avLst/>
          </a:prstGeom>
          <a:solidFill>
            <a:srgbClr val="09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645920" y="5120640"/>
            <a:ext cx="3291840" cy="3291840"/>
          </a:xfrm>
          <a:prstGeom prst="ellipse">
            <a:avLst/>
          </a:prstGeom>
          <a:solidFill>
            <a:srgbClr val="0824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6D9B1"/>
                </a:solidFill>
                <a:latin typeface="Arial"/>
              </a:rPr>
              <a:t>ORDER TO CASH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FEFO and credit control in 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822960" cy="54864"/>
          </a:xfrm>
          <a:prstGeom prst="rect">
            <a:avLst/>
          </a:prstGeom>
          <a:solidFill>
            <a:srgbClr val="46D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FB3D1"/>
                </a:solidFill>
                <a:latin typeface="Arial"/>
              </a:rPr>
              <a:t>PHARMA BRIDGE  |  Odoo 19 ERP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FB3D1"/>
                </a:solidFill>
                <a:latin typeface="Arial"/>
              </a:rPr>
              <a:t>8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1783080"/>
            <a:ext cx="548640" cy="548640"/>
          </a:xfrm>
          <a:prstGeom prst="ellipse">
            <a:avLst/>
          </a:prstGeom>
          <a:solidFill>
            <a:srgbClr val="46D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7830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71636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746504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Sale order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148840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9FB3D1"/>
                </a:solidFill>
                <a:latin typeface="Arial"/>
              </a:rPr>
              <a:t>Credit limit checked at confirmation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2807208"/>
            <a:ext cx="548640" cy="54864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807208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71636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2770632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Delivery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172968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9FB3D1"/>
                </a:solidFill>
                <a:latin typeface="Arial"/>
              </a:rPr>
              <a:t>Reserves the earliest-expiry lot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3831336"/>
            <a:ext cx="548640" cy="548640"/>
          </a:xfrm>
          <a:prstGeom prst="ellipse">
            <a:avLst/>
          </a:prstGeom>
          <a:solidFill>
            <a:srgbClr val="2E7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831336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71636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79476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Invoice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197096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9FB3D1"/>
                </a:solidFill>
                <a:latin typeface="Arial"/>
              </a:rPr>
              <a:t>Average cost and perpetual valuation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4855464"/>
            <a:ext cx="548640" cy="548640"/>
          </a:xfrm>
          <a:prstGeom prst="ellipse">
            <a:avLst/>
          </a:prstGeom>
          <a:solidFill>
            <a:srgbClr val="46D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855464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71636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4818888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Payment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221224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9FB3D1"/>
                </a:solidFill>
                <a:latin typeface="Arial"/>
              </a:rPr>
              <a:t>Customer balance updates instantly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0" y="1783080"/>
            <a:ext cx="5696712" cy="2468880"/>
          </a:xfrm>
          <a:prstGeom prst="roundRect">
            <a:avLst>
              <a:gd name="adj" fmla="val 6000"/>
            </a:avLst>
          </a:prstGeom>
          <a:solidFill>
            <a:srgbClr val="0E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19659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Augmentin 1g  |  100 units received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2514600"/>
            <a:ext cx="5148072" cy="640080"/>
          </a:xfrm>
          <a:prstGeom prst="roundRect">
            <a:avLst>
              <a:gd name="adj" fmla="val 6000"/>
            </a:avLst>
          </a:prstGeom>
          <a:solidFill>
            <a:srgbClr val="0716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514600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LOT-2026-A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251460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FB3D1"/>
                </a:solidFill>
                <a:latin typeface="Arial"/>
              </a:rPr>
              <a:t>50 units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251460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FB3D1"/>
                </a:solidFill>
                <a:latin typeface="Arial"/>
              </a:rPr>
              <a:t>Exp 31/12/2026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2720" y="2514600"/>
            <a:ext cx="10058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46D9B1"/>
                </a:solidFill>
                <a:latin typeface="Arial"/>
              </a:rPr>
              <a:t>SHIPS FIRST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3291840"/>
            <a:ext cx="5148072" cy="640080"/>
          </a:xfrm>
          <a:prstGeom prst="roundRect">
            <a:avLst>
              <a:gd name="adj" fmla="val 6000"/>
            </a:avLst>
          </a:prstGeom>
          <a:solidFill>
            <a:srgbClr val="0716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291840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LOT-2027-B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0" y="329184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FB3D1"/>
                </a:solidFill>
                <a:latin typeface="Arial"/>
              </a:rPr>
              <a:t>50 units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0" y="329184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FB3D1"/>
                </a:solidFill>
                <a:latin typeface="Arial"/>
              </a:rPr>
              <a:t>Exp 30/06/2027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32720" y="3291840"/>
            <a:ext cx="10058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SHIPS SECOND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0" y="4526280"/>
            <a:ext cx="5696712" cy="1417320"/>
          </a:xfrm>
          <a:prstGeom prst="roundRect">
            <a:avLst>
              <a:gd name="adj" fmla="val 6000"/>
            </a:avLst>
          </a:prstGeom>
          <a:solidFill>
            <a:srgbClr val="0E2550"/>
          </a:solidFill>
          <a:ln w="15875">
            <a:solidFill>
              <a:srgbClr val="EF5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0" y="4681728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Credit limit protection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516636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9FB3D1"/>
                </a:solidFill>
                <a:latin typeface="Arial"/>
              </a:rPr>
              <a:t>12,000 EGP order  vs  10,000 EGP limit (El-Ezaby Pharmacy)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9FB3D1"/>
                </a:solidFill>
                <a:latin typeface="Arial"/>
              </a:rPr>
              <a:t>Result: order blocked before delivery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glitter pattern="hexagon"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6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6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9" grpId="0" animBg="1"/>
      <p:bldP spid="10" grpId="0"/>
      <p:bldP spid="11" grpId="0"/>
      <p:bldP spid="12" grpId="0"/>
      <p:bldP spid="13" grpId="0" animBg="1"/>
      <p:bldP spid="14" grpId="0"/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  <p:bldP spid="23" grpId="0"/>
      <p:bldP spid="24" grpId="0"/>
      <p:bldP spid="25" grpId="0" animBg="1"/>
      <p:bldP spid="26" grpId="0"/>
      <p:bldP spid="27" grpId="0" animBg="1"/>
      <p:bldP spid="28" grpId="0"/>
      <p:bldP spid="29" grpId="0"/>
      <p:bldP spid="30" grpId="0"/>
      <p:bldP spid="31" grpId="0"/>
      <p:bldP spid="32" grpId="0" animBg="1"/>
      <p:bldP spid="33" grpId="0"/>
      <p:bldP spid="34" grpId="0"/>
      <p:bldP spid="35" grpId="0"/>
      <p:bldP spid="36" grpId="0"/>
      <p:bldP spid="37" grpId="0" animBg="1"/>
      <p:bldP spid="38" grpId="0"/>
      <p:bldP spid="39" grpId="0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6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2011680"/>
            <a:ext cx="4572000" cy="4572000"/>
          </a:xfrm>
          <a:prstGeom prst="ellipse">
            <a:avLst/>
          </a:prstGeom>
          <a:solidFill>
            <a:srgbClr val="09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645920" y="5120640"/>
            <a:ext cx="3291840" cy="3291840"/>
          </a:xfrm>
          <a:prstGeom prst="ellipse">
            <a:avLst/>
          </a:prstGeom>
          <a:solidFill>
            <a:srgbClr val="0824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6D9B1"/>
                </a:solidFill>
                <a:latin typeface="Arial"/>
              </a:rPr>
              <a:t>TRACEABILITY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A recall answered in minutes, not days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822960" cy="54864"/>
          </a:xfrm>
          <a:prstGeom prst="rect">
            <a:avLst/>
          </a:prstGeom>
          <a:solidFill>
            <a:srgbClr val="46D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FB3D1"/>
                </a:solidFill>
                <a:latin typeface="Arial"/>
              </a:rPr>
              <a:t>PHARMA BRIDGE  |  Odoo 19 ERP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FB3D1"/>
                </a:solidFill>
                <a:latin typeface="Arial"/>
              </a:rP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783080"/>
            <a:ext cx="2606040" cy="2057400"/>
          </a:xfrm>
          <a:prstGeom prst="roundRect">
            <a:avLst>
              <a:gd name="adj" fmla="val 6000"/>
            </a:avLst>
          </a:prstGeom>
          <a:solidFill>
            <a:srgbClr val="0E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947672"/>
            <a:ext cx="64008" cy="1728216"/>
          </a:xfrm>
          <a:prstGeom prst="rect">
            <a:avLst/>
          </a:prstGeom>
          <a:solidFill>
            <a:srgbClr val="46D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984248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  Detect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496312"/>
            <a:ext cx="2057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9FB3D1"/>
                </a:solidFill>
                <a:latin typeface="Arial"/>
              </a:rPr>
              <a:t>A supplier reports a problem with one lot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64992" y="1783080"/>
            <a:ext cx="2606040" cy="2057400"/>
          </a:xfrm>
          <a:prstGeom prst="roundRect">
            <a:avLst>
              <a:gd name="adj" fmla="val 6000"/>
            </a:avLst>
          </a:prstGeom>
          <a:solidFill>
            <a:srgbClr val="0E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64992" y="1947672"/>
            <a:ext cx="64008" cy="172821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1984248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  Trace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496312"/>
            <a:ext cx="2057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9FB3D1"/>
                </a:solidFill>
                <a:latin typeface="Arial"/>
              </a:rPr>
              <a:t>Open the lot and see its full movement history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1783080"/>
            <a:ext cx="2606040" cy="2057400"/>
          </a:xfrm>
          <a:prstGeom prst="roundRect">
            <a:avLst>
              <a:gd name="adj" fmla="val 6000"/>
            </a:avLst>
          </a:prstGeom>
          <a:solidFill>
            <a:srgbClr val="0E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81344" y="1947672"/>
            <a:ext cx="64008" cy="1728216"/>
          </a:xfrm>
          <a:prstGeom prst="rect">
            <a:avLst/>
          </a:prstGeom>
          <a:solidFill>
            <a:srgbClr val="2E7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1984248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  Identify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2496312"/>
            <a:ext cx="2057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9FB3D1"/>
                </a:solidFill>
                <a:latin typeface="Arial"/>
              </a:rPr>
              <a:t>List every customer and quantity delivered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97696" y="1783080"/>
            <a:ext cx="2606040" cy="2057400"/>
          </a:xfrm>
          <a:prstGeom prst="roundRect">
            <a:avLst>
              <a:gd name="adj" fmla="val 6000"/>
            </a:avLst>
          </a:prstGeom>
          <a:solidFill>
            <a:srgbClr val="0E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97696" y="1947672"/>
            <a:ext cx="64008" cy="1728216"/>
          </a:xfrm>
          <a:prstGeom prst="rect">
            <a:avLst/>
          </a:prstGeom>
          <a:solidFill>
            <a:srgbClr val="46D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90304" y="1984248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  Contain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2496312"/>
            <a:ext cx="2057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9FB3D1"/>
                </a:solidFill>
                <a:latin typeface="Arial"/>
              </a:rPr>
              <a:t>Move remaining stock to Quarantine and notify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11480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0E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4279392"/>
            <a:ext cx="64008" cy="149961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7" y="431596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Audit trail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7" y="4828032"/>
            <a:ext cx="2971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9FB3D1"/>
                </a:solidFill>
                <a:latin typeface="Arial"/>
              </a:rPr>
              <a:t>Every receipt, transfer and delivery is logged per lot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43400" y="411480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0E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43400" y="4279392"/>
            <a:ext cx="64008" cy="1499616"/>
          </a:xfrm>
          <a:prstGeom prst="rect">
            <a:avLst/>
          </a:prstGeom>
          <a:solidFill>
            <a:srgbClr val="46D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36008" y="431596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Expiry records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36008" y="4828032"/>
            <a:ext cx="2971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9FB3D1"/>
                </a:solidFill>
                <a:latin typeface="Arial"/>
              </a:rPr>
              <a:t>Expiry dates stored on each lot with alerts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38160" y="411480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0E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38160" y="4279392"/>
            <a:ext cx="64008" cy="1499616"/>
          </a:xfrm>
          <a:prstGeom prst="rect">
            <a:avLst/>
          </a:prstGeom>
          <a:solidFill>
            <a:srgbClr val="2E7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30768" y="431596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Cold-chain records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30768" y="4828032"/>
            <a:ext cx="2971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9FB3D1"/>
                </a:solidFill>
                <a:latin typeface="Arial"/>
              </a:rPr>
              <a:t>Temperature-zone stock kept in its own location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prism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6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6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4" dur="6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9" grpId="0" animBg="1"/>
      <p:bldP spid="10" grpId="0" animBg="1"/>
      <p:bldP spid="11" grpId="0"/>
      <p:bldP spid="12" grpId="0"/>
      <p:bldP spid="13" grpId="0" animBg="1"/>
      <p:bldP spid="14" grpId="0" animBg="1"/>
      <p:bldP spid="15" grpId="0"/>
      <p:bldP spid="16" grpId="0"/>
      <p:bldP spid="17" grpId="0" animBg="1"/>
      <p:bldP spid="18" grpId="0" animBg="1"/>
      <p:bldP spid="19" grpId="0"/>
      <p:bldP spid="20" grpId="0"/>
      <p:bldP spid="21" grpId="0" animBg="1"/>
      <p:bldP spid="22" grpId="0" animBg="1"/>
      <p:bldP spid="23" grpId="0"/>
      <p:bldP spid="24" grpId="0"/>
      <p:bldP spid="25" grpId="0" animBg="1"/>
      <p:bldP spid="26" grpId="0" animBg="1"/>
      <p:bldP spid="27" grpId="0"/>
      <p:bldP spid="28" grpId="0"/>
      <p:bldP spid="29" grpId="0" animBg="1"/>
      <p:bldP spid="30" grpId="0" animBg="1"/>
      <p:bldP spid="31" grpId="0"/>
      <p:bldP spid="32" grpId="0"/>
      <p:bldP spid="33" grpId="0" animBg="1"/>
      <p:bldP spid="34" grpId="0" animBg="1"/>
      <p:bldP spid="35" grpId="0"/>
      <p:bldP spid="36" grpId="0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6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2011680"/>
            <a:ext cx="4572000" cy="4572000"/>
          </a:xfrm>
          <a:prstGeom prst="ellipse">
            <a:avLst/>
          </a:prstGeom>
          <a:solidFill>
            <a:srgbClr val="09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645920" y="5120640"/>
            <a:ext cx="3291840" cy="3291840"/>
          </a:xfrm>
          <a:prstGeom prst="ellipse">
            <a:avLst/>
          </a:prstGeom>
          <a:solidFill>
            <a:srgbClr val="0824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6D9B1"/>
                </a:solidFill>
                <a:latin typeface="Arial"/>
              </a:rPr>
              <a:t>DATABASE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How the data connects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822960" cy="54864"/>
          </a:xfrm>
          <a:prstGeom prst="rect">
            <a:avLst/>
          </a:prstGeom>
          <a:solidFill>
            <a:srgbClr val="46D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FB3D1"/>
                </a:solidFill>
                <a:latin typeface="Arial"/>
              </a:rPr>
              <a:t>PHARMA BRIDGE  |  Odoo 19 ERP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FB3D1"/>
                </a:solidFill>
                <a:latin typeface="Arial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2286000" cy="1188720"/>
          </a:xfrm>
          <a:prstGeom prst="roundRect">
            <a:avLst>
              <a:gd name="adj" fmla="val 6000"/>
            </a:avLst>
          </a:prstGeom>
          <a:solidFill>
            <a:srgbClr val="0E2550"/>
          </a:solidFill>
          <a:ln w="15875">
            <a:solidFill>
              <a:srgbClr val="46D9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1031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Vendor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4203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9FB3D1"/>
                </a:solidFill>
                <a:latin typeface="Arial"/>
              </a:rPr>
              <a:t>res.partner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34640" y="2423160"/>
            <a:ext cx="640080" cy="0"/>
          </a:xfrm>
          <a:prstGeom prst="line">
            <a:avLst/>
          </a:prstGeom>
          <a:ln w="25400">
            <a:solidFill>
              <a:srgbClr val="46D9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74720" y="1828800"/>
            <a:ext cx="2286000" cy="1188720"/>
          </a:xfrm>
          <a:prstGeom prst="roundRect">
            <a:avLst>
              <a:gd name="adj" fmla="val 6000"/>
            </a:avLst>
          </a:prstGeom>
          <a:solidFill>
            <a:srgbClr val="0E2550"/>
          </a:solidFill>
          <a:ln w="15875">
            <a:solidFill>
              <a:srgbClr val="46D9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21031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Purchase Order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54203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9FB3D1"/>
                </a:solidFill>
                <a:latin typeface="Arial"/>
              </a:rPr>
              <a:t>purchase.order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760720" y="2423160"/>
            <a:ext cx="640080" cy="0"/>
          </a:xfrm>
          <a:prstGeom prst="line">
            <a:avLst/>
          </a:prstGeom>
          <a:ln w="25400">
            <a:solidFill>
              <a:srgbClr val="46D9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400800" y="1828800"/>
            <a:ext cx="2286000" cy="1188720"/>
          </a:xfrm>
          <a:prstGeom prst="roundRect">
            <a:avLst>
              <a:gd name="adj" fmla="val 6000"/>
            </a:avLst>
          </a:prstGeom>
          <a:solidFill>
            <a:srgbClr val="0E2550"/>
          </a:solidFill>
          <a:ln w="15875">
            <a:solidFill>
              <a:srgbClr val="46D9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1031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Receipt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54203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9FB3D1"/>
                </a:solidFill>
                <a:latin typeface="Arial"/>
              </a:rPr>
              <a:t>stock.picking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686800" y="2423160"/>
            <a:ext cx="640080" cy="0"/>
          </a:xfrm>
          <a:prstGeom prst="line">
            <a:avLst/>
          </a:prstGeom>
          <a:ln w="25400">
            <a:solidFill>
              <a:srgbClr val="46D9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326880" y="1828800"/>
            <a:ext cx="2286000" cy="1188720"/>
          </a:xfrm>
          <a:prstGeom prst="roundRect">
            <a:avLst>
              <a:gd name="adj" fmla="val 6000"/>
            </a:avLst>
          </a:prstGeom>
          <a:solidFill>
            <a:srgbClr val="0E2550"/>
          </a:solidFill>
          <a:ln w="15875">
            <a:solidFill>
              <a:srgbClr val="46D9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0" y="21031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Lot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254203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9FB3D1"/>
                </a:solidFill>
                <a:latin typeface="Arial"/>
              </a:rPr>
              <a:t>stock.lot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840480"/>
            <a:ext cx="2286000" cy="1188720"/>
          </a:xfrm>
          <a:prstGeom prst="roundRect">
            <a:avLst>
              <a:gd name="adj" fmla="val 6000"/>
            </a:avLst>
          </a:prstGeom>
          <a:solidFill>
            <a:srgbClr val="0E2550"/>
          </a:solidFill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1148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Customer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55371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9FB3D1"/>
                </a:solidFill>
                <a:latin typeface="Arial"/>
              </a:rPr>
              <a:t>res.partner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834640" y="4434840"/>
            <a:ext cx="640080" cy="0"/>
          </a:xfrm>
          <a:prstGeom prst="line">
            <a:avLst/>
          </a:prstGeom>
          <a:ln w="25400">
            <a:solidFill>
              <a:srgbClr val="46D9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3474720" y="3840480"/>
            <a:ext cx="2286000" cy="1188720"/>
          </a:xfrm>
          <a:prstGeom prst="roundRect">
            <a:avLst>
              <a:gd name="adj" fmla="val 6000"/>
            </a:avLst>
          </a:prstGeom>
          <a:solidFill>
            <a:srgbClr val="0E2550"/>
          </a:solidFill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0" y="41148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Sale Order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455371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9FB3D1"/>
                </a:solidFill>
                <a:latin typeface="Arial"/>
              </a:rPr>
              <a:t>sale.order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760720" y="4434840"/>
            <a:ext cx="640080" cy="0"/>
          </a:xfrm>
          <a:prstGeom prst="line">
            <a:avLst/>
          </a:prstGeom>
          <a:ln w="25400">
            <a:solidFill>
              <a:srgbClr val="46D9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400800" y="3840480"/>
            <a:ext cx="2286000" cy="1188720"/>
          </a:xfrm>
          <a:prstGeom prst="roundRect">
            <a:avLst>
              <a:gd name="adj" fmla="val 6000"/>
            </a:avLst>
          </a:prstGeom>
          <a:solidFill>
            <a:srgbClr val="0E2550"/>
          </a:solidFill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41148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Delivery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55371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9FB3D1"/>
                </a:solidFill>
                <a:latin typeface="Arial"/>
              </a:rPr>
              <a:t>stock.picking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686800" y="4434840"/>
            <a:ext cx="640080" cy="0"/>
          </a:xfrm>
          <a:prstGeom prst="line">
            <a:avLst/>
          </a:prstGeom>
          <a:ln w="25400">
            <a:solidFill>
              <a:srgbClr val="46D9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9326880" y="3840480"/>
            <a:ext cx="2286000" cy="1188720"/>
          </a:xfrm>
          <a:prstGeom prst="roundRect">
            <a:avLst>
              <a:gd name="adj" fmla="val 6000"/>
            </a:avLst>
          </a:prstGeom>
          <a:solidFill>
            <a:srgbClr val="0E2550"/>
          </a:solidFill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0" y="41148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Invoice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0" y="455371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9FB3D1"/>
                </a:solidFill>
                <a:latin typeface="Arial"/>
              </a:rPr>
              <a:t>account.move</a:t>
            </a:r>
          </a:p>
        </p:txBody>
      </p:sp>
      <p:cxnSp>
        <p:nvCxnSpPr>
          <p:cNvPr id="39" name="Connector 38"/>
          <p:cNvCxnSpPr/>
          <p:nvPr/>
        </p:nvCxnSpPr>
        <p:spPr>
          <a:xfrm flipH="1">
            <a:off x="7543800" y="3017520"/>
            <a:ext cx="2926080" cy="822960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48640" y="53949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9FB3D1"/>
                </a:solidFill>
                <a:latin typeface="Arial"/>
              </a:rPr>
              <a:t>Quality checks attach to receipts; stock quants link each lot to its location (Main, Cold Storage, Quarantine).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conveyor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6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8" dur="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4" dur="6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8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7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9" grpId="0" animBg="1"/>
      <p:bldP spid="10" grpId="0"/>
      <p:bldP spid="11" grpId="0"/>
      <p:bldP spid="13" grpId="0" animBg="1"/>
      <p:bldP spid="14" grpId="0"/>
      <p:bldP spid="15" grpId="0"/>
      <p:bldP spid="17" grpId="0" animBg="1"/>
      <p:bldP spid="18" grpId="0"/>
      <p:bldP spid="19" grpId="0"/>
      <p:bldP spid="21" grpId="0" animBg="1"/>
      <p:bldP spid="22" grpId="0"/>
      <p:bldP spid="23" grpId="0"/>
      <p:bldP spid="24" grpId="0" animBg="1"/>
      <p:bldP spid="25" grpId="0"/>
      <p:bldP spid="26" grpId="0"/>
      <p:bldP spid="28" grpId="0" animBg="1"/>
      <p:bldP spid="29" grpId="0"/>
      <p:bldP spid="30" grpId="0"/>
      <p:bldP spid="32" grpId="0" animBg="1"/>
      <p:bldP spid="33" grpId="0"/>
      <p:bldP spid="34" grpId="0"/>
      <p:bldP spid="36" grpId="0" animBg="1"/>
      <p:bldP spid="37" grpId="0"/>
      <p:bldP spid="38" grpId="0"/>
      <p:bldP spid="40" grpId="0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6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2011680"/>
            <a:ext cx="4572000" cy="4572000"/>
          </a:xfrm>
          <a:prstGeom prst="ellipse">
            <a:avLst/>
          </a:prstGeom>
          <a:solidFill>
            <a:srgbClr val="09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645920" y="5120640"/>
            <a:ext cx="3291840" cy="3291840"/>
          </a:xfrm>
          <a:prstGeom prst="ellipse">
            <a:avLst/>
          </a:prstGeom>
          <a:solidFill>
            <a:srgbClr val="0824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6D9B1"/>
                </a:solidFill>
                <a:latin typeface="Arial"/>
              </a:rPr>
              <a:t>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Standard fit and tested end to 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822960" cy="54864"/>
          </a:xfrm>
          <a:prstGeom prst="rect">
            <a:avLst/>
          </a:prstGeom>
          <a:solidFill>
            <a:srgbClr val="46D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FB3D1"/>
                </a:solidFill>
                <a:latin typeface="Arial"/>
              </a:rPr>
              <a:t>PHARMA BRIDGE  |  Odoo 19 ERP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FB3D1"/>
                </a:solidFill>
                <a:latin typeface="Arial"/>
              </a:rPr>
              <a:t>11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48640" y="1737360"/>
          <a:ext cx="493776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943600" y="17830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10 requirements analysed (Fit-Gap)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331720"/>
            <a:ext cx="566928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9FB3D1"/>
                </a:solidFill>
                <a:latin typeface="Arial"/>
              </a:rPr>
              <a:t>10 UAT scenarios cover the whole business: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9FB3D1"/>
                </a:solidFill>
                <a:latin typeface="Arial"/>
              </a:rPr>
              <a:t>Receiving with lots  |  FEFO picking  |  Expired lot protection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9FB3D1"/>
                </a:solidFill>
                <a:latin typeface="Arial"/>
              </a:rPr>
              <a:t>Credit limit  |  Quality check  |  Cold storage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9FB3D1"/>
                </a:solidFill>
                <a:latin typeface="Arial"/>
              </a:rPr>
              <a:t>Invoice and payment  |  Traceability  |  Access rights  |  Reordering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4709160"/>
            <a:ext cx="5696712" cy="1188720"/>
          </a:xfrm>
          <a:prstGeom prst="roundRect">
            <a:avLst>
              <a:gd name="adj" fmla="val 6000"/>
            </a:avLst>
          </a:prstGeom>
          <a:solidFill>
            <a:srgbClr val="0E2550"/>
          </a:solidFill>
          <a:ln w="15875">
            <a:solidFill>
              <a:srgbClr val="46D9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484632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46D9B1"/>
                </a:solidFill>
                <a:latin typeface="Arial"/>
              </a:rPr>
              <a:t>Zero custom 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53949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9FB3D1"/>
                </a:solidFill>
                <a:latin typeface="Arial"/>
              </a:rPr>
              <a:t>Everything is configuration, so upgrades stay simple.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ferris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10" grpId="0"/>
      <p:bldP spid="11" grpId="0"/>
      <p:bldP spid="12" grpId="0" animBg="1"/>
      <p:bldP spid="13" grpId="0"/>
      <p:bldP spid="14" grpId="0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6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2011680"/>
            <a:ext cx="4572000" cy="4572000"/>
          </a:xfrm>
          <a:prstGeom prst="ellipse">
            <a:avLst/>
          </a:prstGeom>
          <a:solidFill>
            <a:srgbClr val="09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645920" y="5120640"/>
            <a:ext cx="3291840" cy="3291840"/>
          </a:xfrm>
          <a:prstGeom prst="ellipse">
            <a:avLst/>
          </a:prstGeom>
          <a:solidFill>
            <a:srgbClr val="0824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6D9B1"/>
                </a:solidFill>
                <a:latin typeface="Arial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From project to production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822960" cy="54864"/>
          </a:xfrm>
          <a:prstGeom prst="rect">
            <a:avLst/>
          </a:prstGeom>
          <a:solidFill>
            <a:srgbClr val="46D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FB3D1"/>
                </a:solidFill>
                <a:latin typeface="Arial"/>
              </a:rPr>
              <a:t>PHARMA BRIDGE  |  Odoo 19 ERP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FB3D1"/>
                </a:solidFill>
                <a:latin typeface="Arial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78308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0E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947672"/>
            <a:ext cx="64008" cy="1499616"/>
          </a:xfrm>
          <a:prstGeom prst="rect">
            <a:avLst/>
          </a:prstGeom>
          <a:solidFill>
            <a:srgbClr val="46D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984248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Delivered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496312"/>
            <a:ext cx="48463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9FB3D1"/>
                </a:solidFill>
                <a:latin typeface="Arial"/>
              </a:rPr>
              <a:t>Core ERP: purchase, inventory with lots and FEFO, sales, accounting, quality, CRM.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78308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0E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47672"/>
            <a:ext cx="64008" cy="149961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1984248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Next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8" y="2496312"/>
            <a:ext cx="48463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9FB3D1"/>
                </a:solidFill>
                <a:latin typeface="Arial"/>
              </a:rPr>
              <a:t>Egyptian e-invoicing with the tax authority and drug track-and-trace integration.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84048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0E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005072"/>
            <a:ext cx="64008" cy="1499616"/>
          </a:xfrm>
          <a:prstGeom prst="rect">
            <a:avLst/>
          </a:prstGeom>
          <a:solidFill>
            <a:srgbClr val="2E7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4041648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Then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553712"/>
            <a:ext cx="48463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9FB3D1"/>
                </a:solidFill>
                <a:latin typeface="Arial"/>
              </a:rPr>
              <a:t>Barcode scanning on mobile devices for receipts and deliveries.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84048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0E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005072"/>
            <a:ext cx="64008" cy="1499616"/>
          </a:xfrm>
          <a:prstGeom prst="rect">
            <a:avLst/>
          </a:prstGeom>
          <a:solidFill>
            <a:srgbClr val="46D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4808" y="4041648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Future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4808" y="4553712"/>
            <a:ext cx="48463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9FB3D1"/>
                </a:solidFill>
                <a:latin typeface="Arial"/>
              </a:rPr>
              <a:t>BI dashboards and demand forecasting with machine learning to cut expiry losses.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9436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9FB3D1"/>
                </a:solidFill>
                <a:latin typeface="Arial"/>
              </a:rPr>
              <a:t>Training per role, a one-page user guide, and a first-two-weeks support plan are part of go-live.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warp dir="i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9" grpId="0" animBg="1"/>
      <p:bldP spid="10" grpId="0" animBg="1"/>
      <p:bldP spid="11" grpId="0"/>
      <p:bldP spid="12" grpId="0"/>
      <p:bldP spid="13" grpId="0" animBg="1"/>
      <p:bldP spid="14" grpId="0" animBg="1"/>
      <p:bldP spid="15" grpId="0"/>
      <p:bldP spid="16" grpId="0"/>
      <p:bldP spid="17" grpId="0" animBg="1"/>
      <p:bldP spid="18" grpId="0" animBg="1"/>
      <p:bldP spid="19" grpId="0"/>
      <p:bldP spid="20" grpId="0"/>
      <p:bldP spid="21" grpId="0" animBg="1"/>
      <p:bldP spid="22" grpId="0" animBg="1"/>
      <p:bldP spid="23" grpId="0"/>
      <p:bldP spid="24" grpId="0"/>
      <p:bldP spid="25" grpId="0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5925312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Thank you  | 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272784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9FB3D1"/>
                </a:solidFill>
                <a:latin typeface="Arial"/>
              </a:rPr>
              <a:t>Mahmoud Abdelhamid Elmetwally   |   Ahmed Walid   |   Mazen Eldeeb   |   Abdelrahman Lotfy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519672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46D9B1"/>
                </a:solidFill>
                <a:latin typeface="Arial"/>
              </a:rPr>
              <a:t>Instructor: Ehab Mahmoud   |   Digital Egypt Pioneers Initiative (DEPI)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